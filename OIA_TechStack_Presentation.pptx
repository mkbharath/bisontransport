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4" r:id="rId6"/>
    <p:sldMasterId id="2147483708" r:id="rId7"/>
    <p:sldMasterId id="2147483720" r:id="rId8"/>
  </p:sldMasterIdLst>
  <p:notesMasterIdLst>
    <p:notesMasterId r:id="rId12"/>
  </p:notesMasterIdLst>
  <p:sldIdLst>
    <p:sldId id="256" r:id="rId11"/>
    <p:sldId id="257" r:id="rId10"/>
    <p:sldId id="258" r:id="rId9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625"/>
    <a:srgbClr val="285D93"/>
    <a:srgbClr val="F5F4F6"/>
    <a:srgbClr val="F0F3F6"/>
    <a:srgbClr val="E8EDF1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6"/>
    <p:restoredTop sz="94637"/>
  </p:normalViewPr>
  <p:slideViewPr>
    <p:cSldViewPr snapToGrid="0">
      <p:cViewPr varScale="1">
        <p:scale>
          <a:sx n="149" d="100"/>
          <a:sy n="149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29673-964D-461C-81A5-E96E8730AFB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64EE4-3EA1-4059-B2C3-3137EFA33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6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CE03-B8F7-15AD-217E-624833B8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C9B3-94A4-8ED0-735D-212C7931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DE08-73BE-BD75-FC65-ED195A4B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437D-4D5C-C8F4-25C6-91FA3AF1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D40D-3B92-A81D-A338-83302B4A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3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E473-AE16-B020-FF84-E9F592A4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DB53-FA18-E76A-77A8-BAE850B1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395D-BEFA-3257-42A7-87C3FFE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EDDA-2C50-E7E1-A013-AC7BC8B8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2B3A-4945-C506-DE48-C23E13AD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ABC3-6760-4B9C-31B6-4582B369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186F3-058C-C59D-D2A0-D8D3365FA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E7C3-0FDA-7FA0-7E38-AE6C152E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E4A96-D115-2F52-BA94-5112EEF8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34CC-C104-B481-997A-0777A67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5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BB7B-718C-AEDE-E93E-F58906BF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F678-0E93-4DD6-2508-6AFDB0F41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E91-EA23-89C8-81F6-CF447BE3A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8401-1040-ACB1-E3E9-2D2FDB38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0AFFF-15BE-0D30-4923-B66C2D1D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6E1D5-3C41-638F-9E71-C8D1C37A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6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F052-9595-10A4-2EDB-82177684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3ACFD-750A-22C5-E855-296062B4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D67D-B3BD-6359-ACDF-77AFECBC0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BE7C0-0630-4485-DB07-14C49A78C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35EFB-BCF4-1942-6D7F-06E651744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D6490-5E32-A2EC-8D4D-761888E6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2755-9EF9-1175-3989-39C51434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F5F4-A1AD-12AA-F2CF-35839FF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5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27FF-B54A-C555-9BC6-F23EE480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3BB4A-6B7C-A642-D2C7-67E6CD7A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D8157-0720-2DD5-018D-63E1D36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E39A7-0E84-7279-89B4-F677DCE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4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2DBA-0ACE-D684-A3DE-CEF61A7E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8FE7C-7738-A71F-F0F8-458620E9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F0B9-22C6-D43E-D09A-1D59FE75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13A1-2BE8-4214-7E0E-3EBBBBD0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30DF-E149-19FF-82D0-707E33E2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81081-0C4F-26B3-7029-5ABD96A4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4ADFB-CEBF-A68C-8EAF-DB8032C5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4405B-2F01-8EBE-E3A3-09FB7908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96B5-DC35-DEFF-3A8F-D9A2F7F4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1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E829-83AE-90E5-2770-3731DDAE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C64CB-F918-EDCA-AFCD-EA7CB88AB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22E29-8DEF-9DD9-EE29-9162BF2A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D7A9-AAFC-C95A-13D9-CB5D782D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B3254-FE1B-D9D7-B204-B1822B6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0D150-AE25-90EC-917C-01938563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4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9C10-9EA1-EDB9-1036-E639F10E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AC979-8D1F-EEEC-CFB5-5DAB122A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A443-96F4-D369-59D0-34446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41C0-0E97-1469-835E-8EE53A6E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8377-3DF0-6A0D-B536-5EE0CF50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9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307AD-F17F-E94D-0A00-F5C6836E5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35021-BF51-B170-A16B-44CD5A18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6C5A7-5935-7FFD-BEFE-ABA6A6F3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82BF-9CDB-AC7D-D293-29F95D87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9C3E-025B-4C7F-708D-6E152BB0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59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2822-3C3E-A588-BFD7-CB66409A1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85AD3-3032-26F0-94E5-5906A0475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DD93-0C88-B89C-F087-99370C81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BE9E1-AC74-AEBB-6D39-6DA1A935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3EB99-DEAA-4FAB-6F09-11A932AA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94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1AD0-48C5-35F6-12B2-8052EE68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C3AB-BDCB-440F-46AD-F535C08F9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0FA5-2B37-E041-DBAF-6246F047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F2179-3AC2-B068-E5D2-82AEDA75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D2788-3A7A-9CA7-940F-D7EE03AC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0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E5D1-EDFC-91AF-F14D-BD4A0DFA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01D47-D01C-EAB4-68F6-F9A70609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EE5B-8574-25B8-C6AC-EB75C44A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C1BF5-34F7-291F-5303-73FE5945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DB58-2B18-4600-7E29-6FCCFA2D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43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4719-B678-CB92-2582-D48657C9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C86A-63A5-3E32-B208-8093A31E3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AF81E-5CE7-0980-12FC-3C43DE46A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B9E27-24E8-9CCB-6A49-01C9DBFA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272EC-C543-947F-4F8A-F92D202D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2BDD6-7930-D136-3D2A-B5CB24CA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2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F97D-EA2A-AD0C-1F4C-E4B9D7BE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025A-7659-421F-37D7-CB26F438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1DF86-C1A0-FF9B-FF87-EC57A1C8A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9E33D-C2E1-3B57-0A95-86DE67779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B1ACB-2F68-F0FA-B82A-89E581D25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2FB4A-3C7D-9CB5-5AB6-53379594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4559-0282-7639-E70D-07B332D9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53A87-0F58-82F6-A2F8-203D7CCF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68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8BD9-1717-C814-7EFF-0E46DCBB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E9608-4B50-F8EA-FA81-B569B608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83F4A-F1D6-5F30-0BD4-01FD71C1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C4EAE-D58C-8850-BD45-C5E70FAE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32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CC479-9CCF-CF90-5E49-3D684DAE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BD40D-5E86-4DD5-E3D8-75635E2B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2A42B-8DBF-B7AB-D3D6-5ADE82C5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75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2BAB-2B14-8C86-340A-7C8D00DC7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FDB6F-FD07-61ED-7691-D8079A04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DBB8D-64BB-AB9C-7BDB-E1E84974B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4F0E-6363-C5BE-EB1B-C46D44CB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464C9-9E2E-A42B-6170-5FFFADCC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0A3CE-17FE-EB3F-9F11-1524ED95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96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525E-E47B-FB7D-6A6D-A855A22A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9FA96-6C32-E252-5066-C500BEEE3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AAFFF-241D-EBEE-B742-7EAF0ED7D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77BFF-18ED-FD29-6124-B0021B81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C879-65FD-31AC-ED3C-215A64A6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649E3-C419-32B7-D3AE-2AA6F146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00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2BA9-5D37-4977-F3C8-128BF038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1AD82-A052-9CCF-F346-EB76E35F7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D5D5-951B-C361-345E-24C2328A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8DBBC-D1F5-FB74-FFB0-7AD5B63E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100C7-D144-B5A3-2EE1-A9E322DBA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54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18311-879A-74A0-CECE-D764E6EC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754A4-B2D9-3378-3D5A-BB1C6F77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AD7CB-2F58-8239-1EFF-72B4F69C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FD99-7F46-7F72-E777-52800A14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92A57-043D-141F-EBFF-F4AD0F2A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11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23A1-4991-C479-1CEC-DE4C2687A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D244-33E9-4FFE-912E-76B2E9191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B004-EDDA-E80D-0B20-EDCBC274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8BC0-FD05-D7B8-6CD0-57B64330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484C-FF69-BF84-154E-45AB216C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062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99CA-5EA2-9C7C-1B42-5C993037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A0AB-9307-AF75-F0F7-8F5EA9A6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7729-5FA2-3053-706F-8780718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BD0A-A44F-22A2-8895-E3D9BED4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A707A-15F6-B654-C91C-3E1587B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393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6E5A-591A-A4AA-1EA8-29827CFE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8A64-7611-D5DD-1987-F61B89E7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0501E-6DBC-7F40-4336-799D1175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8C59-B52E-8528-E221-8D376805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9AF0-4084-76FF-942D-654700D3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303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47C-6547-5BA7-7967-F7015250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7CFA-26D3-32DE-6C28-D5D60894F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3DD6E-2B2F-4FDF-E690-66DEC96D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3F02D-F9C9-36AE-CBA8-649E907C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1C19-4B06-7E04-8173-3D3543D6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6F4E-E39D-434D-C28A-43EE5B13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890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424-6578-0CF9-9605-33569BED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A465B-0C0F-485A-707F-293458508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CB708-5C44-8750-E423-7FF0E595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9BC02-D558-DBE2-16E3-F1E902520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8397B-6F2E-D14E-1B5C-7947D1BA6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3FDEE-2333-8DEC-0AF7-006D45D9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A38BD-26DD-DA45-B172-61597EE4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255C7-CCFA-CC6B-2236-BB61AB3F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8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D786-B1E5-38DA-09A1-51B5A85F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A68D-930C-C8A3-0E91-9AA0DEDA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C1A22-62F4-047B-6C81-CCEDD22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CD9D7-E96B-E4FD-A978-4A030175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63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F3FFA-F38F-2C9B-F5E6-8119C2D7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23208-9E6C-8E7A-69AB-562B3521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8867-D15C-C293-EC46-8FF1340F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49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733-9A38-DD40-F1FD-2C6E26B1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921F-A67F-F58B-F877-9CCFFCD5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1023D-73C0-A16C-B15C-1CA0897C2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E19E3-0DF5-42BC-B8C0-282CFA35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AE348-7E4C-9426-5D64-B598EE95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4AA7-1AFD-37E4-D3D2-8C287D78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323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6440-8A7B-FCC3-D5FC-9CEDA5B8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D3F81-DF78-F893-1717-D757D8F9B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4BFC5-BFE8-B37A-EC9C-7B6C9E891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940A-5B9C-B25A-11D6-77E6E924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D9C4-0E36-54FB-0868-9CF0C60F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01D9D-423E-8009-5CE5-18A40546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779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D0BE-B736-A9CE-C866-1AA1742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4DA55-A11C-C829-BCF1-91C15695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09B4-68DF-0FCF-8F04-22E14712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84A0-C0AE-B6C2-E833-4951E7E4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AA5B-0F6C-CDEB-A47F-2AF078D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49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C2C98-1F63-E29C-F0C4-1F5DBEC3B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52DC5-3AF0-61FD-42C2-1CFAE686D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E5A8-9476-E339-7665-7B2724F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22A7-BE01-4626-6376-048650B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5BAA-876D-0A3F-F27F-09703166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575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CE03-B8F7-15AD-217E-624833B8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C9B3-94A4-8ED0-735D-212C7931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DE08-73BE-BD75-FC65-ED195A4B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437D-4D5C-C8F4-25C6-91FA3AF1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D40D-3B92-A81D-A338-83302B4A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683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E473-AE16-B020-FF84-E9F592A4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DB53-FA18-E76A-77A8-BAE850B1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395D-BEFA-3257-42A7-87C3FFE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EDDA-2C50-E7E1-A013-AC7BC8B8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2B3A-4945-C506-DE48-C23E13AD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575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ABC3-6760-4B9C-31B6-4582B369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186F3-058C-C59D-D2A0-D8D3365FA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E7C3-0FDA-7FA0-7E38-AE6C152E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E4A96-D115-2F52-BA94-5112EEF8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34CC-C104-B481-997A-0777A67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8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BB7B-718C-AEDE-E93E-F58906BF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F678-0E93-4DD6-2508-6AFDB0F41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E91-EA23-89C8-81F6-CF447BE3A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8401-1040-ACB1-E3E9-2D2FDB38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0AFFF-15BE-0D30-4923-B66C2D1D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6E1D5-3C41-638F-9E71-C8D1C37A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55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F052-9595-10A4-2EDB-82177684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3ACFD-750A-22C5-E855-296062B4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D67D-B3BD-6359-ACDF-77AFECBC0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BE7C0-0630-4485-DB07-14C49A78C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35EFB-BCF4-1942-6D7F-06E651744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D6490-5E32-A2EC-8D4D-761888E6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2755-9EF9-1175-3989-39C51434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F5F4-A1AD-12AA-F2CF-35839FF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635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27FF-B54A-C555-9BC6-F23EE480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3BB4A-6B7C-A642-D2C7-67E6CD7A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D8157-0720-2DD5-018D-63E1D36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E39A7-0E84-7279-89B4-F677DCE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18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2DBA-0ACE-D684-A3DE-CEF61A7E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8FE7C-7738-A71F-F0F8-458620E9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F0B9-22C6-D43E-D09A-1D59FE75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385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13A1-2BE8-4214-7E0E-3EBBBBD0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30DF-E149-19FF-82D0-707E33E2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81081-0C4F-26B3-7029-5ABD96A4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4ADFB-CEBF-A68C-8EAF-DB8032C5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4405B-2F01-8EBE-E3A3-09FB7908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96B5-DC35-DEFF-3A8F-D9A2F7F4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445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E829-83AE-90E5-2770-3731DDAE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C64CB-F918-EDCA-AFCD-EA7CB88AB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22E29-8DEF-9DD9-EE29-9162BF2A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D7A9-AAFC-C95A-13D9-CB5D782D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B3254-FE1B-D9D7-B204-B1822B6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0D150-AE25-90EC-917C-01938563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274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9C10-9EA1-EDB9-1036-E639F10E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AC979-8D1F-EEEC-CFB5-5DAB122A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A443-96F4-D369-59D0-34446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41C0-0E97-1469-835E-8EE53A6E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8377-3DF0-6A0D-B536-5EE0CF50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565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307AD-F17F-E94D-0A00-F5C6836E5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35021-BF51-B170-A16B-44CD5A18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6C5A7-5935-7FFD-BEFE-ABA6A6F3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82BF-9CDB-AC7D-D293-29F95D87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9C3E-025B-4C7F-708D-6E152BB0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258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23A1-4991-C479-1CEC-DE4C2687A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D244-33E9-4FFE-912E-76B2E9191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B004-EDDA-E80D-0B20-EDCBC274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8BC0-FD05-D7B8-6CD0-57B64330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484C-FF69-BF84-154E-45AB216C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930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99CA-5EA2-9C7C-1B42-5C993037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A0AB-9307-AF75-F0F7-8F5EA9A6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7729-5FA2-3053-706F-8780718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BD0A-A44F-22A2-8895-E3D9BED4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A707A-15F6-B654-C91C-3E1587B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027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6E5A-591A-A4AA-1EA8-29827CFE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8A64-7611-D5DD-1987-F61B89E7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0501E-6DBC-7F40-4336-799D1175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8C59-B52E-8528-E221-8D376805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9AF0-4084-76FF-942D-654700D3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773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47C-6547-5BA7-7967-F7015250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7CFA-26D3-32DE-6C28-D5D60894F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3DD6E-2B2F-4FDF-E690-66DEC96D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3F02D-F9C9-36AE-CBA8-649E907C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1C19-4B06-7E04-8173-3D3543D6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6F4E-E39D-434D-C28A-43EE5B13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81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424-6578-0CF9-9605-33569BED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A465B-0C0F-485A-707F-293458508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CB708-5C44-8750-E423-7FF0E595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9BC02-D558-DBE2-16E3-F1E902520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8397B-6F2E-D14E-1B5C-7947D1BA6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3FDEE-2333-8DEC-0AF7-006D45D9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A38BD-26DD-DA45-B172-61597EE4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255C7-CCFA-CC6B-2236-BB61AB3F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969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D786-B1E5-38DA-09A1-51B5A85F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A68D-930C-C8A3-0E91-9AA0DEDA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C1A22-62F4-047B-6C81-CCEDD22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CD9D7-E96B-E4FD-A978-4A030175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490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F3FFA-F38F-2C9B-F5E6-8119C2D7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23208-9E6C-8E7A-69AB-562B3521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8867-D15C-C293-EC46-8FF1340F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32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733-9A38-DD40-F1FD-2C6E26B1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921F-A67F-F58B-F877-9CCFFCD5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1023D-73C0-A16C-B15C-1CA0897C2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E19E3-0DF5-42BC-B8C0-282CFA35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AE348-7E4C-9426-5D64-B598EE95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4AA7-1AFD-37E4-D3D2-8C287D78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8443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6440-8A7B-FCC3-D5FC-9CEDA5B8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D3F81-DF78-F893-1717-D757D8F9B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4BFC5-BFE8-B37A-EC9C-7B6C9E891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940A-5B9C-B25A-11D6-77E6E924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D9C4-0E36-54FB-0868-9CF0C60F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01D9D-423E-8009-5CE5-18A40546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3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D0BE-B736-A9CE-C866-1AA1742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4DA55-A11C-C829-BCF1-91C15695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09B4-68DF-0FCF-8F04-22E14712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84A0-C0AE-B6C2-E833-4951E7E4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AA5B-0F6C-CDEB-A47F-2AF078D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10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C2C98-1F63-E29C-F0C4-1F5DBEC3B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52DC5-3AF0-61FD-42C2-1CFAE686D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E5A8-9476-E339-7665-7B2724F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22A7-BE01-4626-6376-048650B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5BAA-876D-0A3F-F27F-09703166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188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hyperlink" Target="http://www.ideyalabs.com/" TargetMode="External"/><Relationship Id="rId14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Relationship Id="rId14" Type="http://schemas.openxmlformats.org/officeDocument/2006/relationships/hyperlink" Target="http://www.ideyalabs.com/" TargetMode="External"/><Relationship Id="rId15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13" Type="http://schemas.openxmlformats.org/officeDocument/2006/relationships/image" Target="../media/image3.png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3BA4FFA2-1E9A-866E-9C5F-D1F0419D373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7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80F6CD-15F3-A22C-92BB-3EBDC8AE4C69}"/>
              </a:ext>
            </a:extLst>
          </p:cNvPr>
          <p:cNvGrpSpPr/>
          <p:nvPr userDrawn="1"/>
        </p:nvGrpSpPr>
        <p:grpSpPr>
          <a:xfrm>
            <a:off x="-29028" y="6550931"/>
            <a:ext cx="5050608" cy="365125"/>
            <a:chOff x="-29028" y="6550931"/>
            <a:chExt cx="5050608" cy="365125"/>
          </a:xfrm>
        </p:grpSpPr>
        <p:sp>
          <p:nvSpPr>
            <p:cNvPr id="13" name="Footer Placeholder 4">
              <a:extLst>
                <a:ext uri="{FF2B5EF4-FFF2-40B4-BE49-F238E27FC236}">
                  <a16:creationId xmlns:a16="http://schemas.microsoft.com/office/drawing/2014/main" id="{1E7F0F90-7E34-4E44-02F7-4BE5FC05C01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29028" y="6550931"/>
              <a:ext cx="5050608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© </a:t>
              </a:r>
              <a:r>
                <a:rPr lang="en-US" sz="1400" b="1">
                  <a:solidFill>
                    <a:srgbClr val="ED7D3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ideya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Labs   | 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| </a:t>
              </a:r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Confidential</a:t>
              </a:r>
            </a:p>
          </p:txBody>
        </p:sp>
        <p:pic>
          <p:nvPicPr>
            <p:cNvPr id="14" name="Picture 13" descr="A blue and black circle with a letter r&#10;&#10;Description automatically generated">
              <a:extLst>
                <a:ext uri="{FF2B5EF4-FFF2-40B4-BE49-F238E27FC236}">
                  <a16:creationId xmlns:a16="http://schemas.microsoft.com/office/drawing/2014/main" id="{A5E56313-88D9-F25F-B322-7CF9AA17A9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167617" y="6615517"/>
              <a:ext cx="111116" cy="111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048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05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3BA4FFA2-1E9A-866E-9C5F-D1F0419D373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8336540-5FD5-0BDF-F1FE-C3B81A0D4AC2}"/>
              </a:ext>
            </a:extLst>
          </p:cNvPr>
          <p:cNvGrpSpPr/>
          <p:nvPr userDrawn="1"/>
        </p:nvGrpSpPr>
        <p:grpSpPr>
          <a:xfrm>
            <a:off x="-29028" y="6550931"/>
            <a:ext cx="5050608" cy="365125"/>
            <a:chOff x="-29028" y="6550931"/>
            <a:chExt cx="5050608" cy="365125"/>
          </a:xfrm>
        </p:grpSpPr>
        <p:sp>
          <p:nvSpPr>
            <p:cNvPr id="3" name="Footer Placeholder 4">
              <a:extLst>
                <a:ext uri="{FF2B5EF4-FFF2-40B4-BE49-F238E27FC236}">
                  <a16:creationId xmlns:a16="http://schemas.microsoft.com/office/drawing/2014/main" id="{9C351054-22B9-E139-B6E2-99A3FB3AA6F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29028" y="6550931"/>
              <a:ext cx="5050608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© </a:t>
              </a:r>
              <a:r>
                <a:rPr lang="en-US" sz="1400" b="1">
                  <a:solidFill>
                    <a:srgbClr val="ED7D3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ideya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Labs   | 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| </a:t>
              </a:r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Confidential</a:t>
              </a:r>
            </a:p>
          </p:txBody>
        </p:sp>
        <p:pic>
          <p:nvPicPr>
            <p:cNvPr id="4" name="Picture 3" descr="A blue and black circle with a letter r&#10;&#10;Description automatically generated">
              <a:extLst>
                <a:ext uri="{FF2B5EF4-FFF2-40B4-BE49-F238E27FC236}">
                  <a16:creationId xmlns:a16="http://schemas.microsoft.com/office/drawing/2014/main" id="{67532BD7-B5D0-729D-914F-00A622341A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1167617" y="6615517"/>
              <a:ext cx="111116" cy="111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98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06D06C2-AA6D-A315-4F52-02738EF082ED}"/>
              </a:ext>
            </a:extLst>
          </p:cNvPr>
          <p:cNvGrpSpPr/>
          <p:nvPr userDrawn="1"/>
        </p:nvGrpSpPr>
        <p:grpSpPr>
          <a:xfrm>
            <a:off x="160339" y="6492875"/>
            <a:ext cx="11867716" cy="279400"/>
            <a:chOff x="408035" y="6063229"/>
            <a:chExt cx="11867716" cy="279400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F76284D8-B67C-6223-4648-4A309174BEB7}"/>
                </a:ext>
              </a:extLst>
            </p:cNvPr>
            <p:cNvSpPr txBox="1"/>
            <p:nvPr/>
          </p:nvSpPr>
          <p:spPr>
            <a:xfrm>
              <a:off x="408035" y="6063229"/>
              <a:ext cx="11867716" cy="279400"/>
            </a:xfrm>
            <a:prstGeom prst="rect">
              <a:avLst/>
            </a:prstGeom>
            <a:solidFill>
              <a:srgbClr val="EC7625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IN" sz="1200" b="1" kern="100">
                  <a:solidFill>
                    <a:srgbClr val="FFFF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Copyright     2026    ideyaLabs | All Rights Reserved</a:t>
              </a:r>
              <a:endParaRPr lang="en-IN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B9455F-D082-E805-E37B-50B19FF968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174753" y="6150666"/>
              <a:ext cx="117475" cy="11193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A1AD75A-85A9-A82E-F54B-884D1B24B5B8}"/>
              </a:ext>
            </a:extLst>
          </p:cNvPr>
          <p:cNvSpPr txBox="1"/>
          <p:nvPr userDrawn="1"/>
        </p:nvSpPr>
        <p:spPr>
          <a:xfrm>
            <a:off x="10941600" y="6473826"/>
            <a:ext cx="664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AAF1190-AD06-5B4F-8DFA-77B3863011C6}" type="slidenum">
              <a:rPr lang="en-US" sz="1200" b="1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200" b="1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3DFAC4-9399-D3DC-D84A-E7F75FC7EDED}"/>
              </a:ext>
            </a:extLst>
          </p:cNvPr>
          <p:cNvCxnSpPr>
            <a:cxnSpLocks/>
          </p:cNvCxnSpPr>
          <p:nvPr userDrawn="1"/>
        </p:nvCxnSpPr>
        <p:spPr>
          <a:xfrm>
            <a:off x="0" y="704331"/>
            <a:ext cx="8911769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816C547-6416-72B3-DF95-AB7DCC36850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5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2560320"/>
            <a:ext cx="9875520" cy="1645920"/>
          </a:xfrm>
          <a:prstGeom prst="round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Order Intelligence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Poppins"/>
              </a:rPr>
              <a:t>AI-Powered Order Intake &amp; Automation for Transportation &amp; Logistics
Prepared by ideyaLabs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Business Challenge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Current Pain Points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Manual order entry from emails takes 5-15 minutes per order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High error rates from manual data transcription (human fatigue)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No standardized process — inconsistent handling across agents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Customer follow-ups are reactive, not proactive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Limited visibility into pipeline status and throughput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Opportunity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80-90% of manual data entry can be automated with AI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Real-time processing (9 seconds vs 5-15 minutes)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24/7 automated operation — no staffing dependency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Consistent quality with configurable business rules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Complete audit trail for compliance and traceability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Order Intelligence Agent Platform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Monitors email inbox for inbound shipment requests (24/7)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Extracts order data from emails + attachments using AI (GPT-4o)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Validates against 12 configurable business rules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Routes by confidence score: auto-process or human review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Communicates with customers for missing information (auto-follow-up)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Creates orders with Straight-Through Processing (STP)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Delivered Capabilities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Full web application for order management and operations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Role-based access: Readonly, Agent, Supervisor, Admin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Administration panel: field configs, rules, templates, users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Real-time dashboard with KPIs and trend analytics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Comprehensive audit logging with search and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645920" cy="82296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Email Inbox
(MS Graph)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463040"/>
            <a:ext cx="1554480" cy="8229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Email Intake
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463040"/>
            <a:ext cx="1554480" cy="8229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Document
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463040"/>
            <a:ext cx="1554480" cy="8229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Order
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1554480" cy="8229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Validation
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743200"/>
            <a:ext cx="1828800" cy="731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Order Creation
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743200"/>
            <a:ext cx="1828800" cy="73152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Communication
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743200"/>
            <a:ext cx="1828800" cy="731520"/>
          </a:xfrm>
          <a:prstGeom prst="round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HITL Review
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164592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Order Created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840480"/>
            <a:ext cx="1645920" cy="6400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Customer 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840480"/>
            <a:ext cx="1645920" cy="640080"/>
          </a:xfrm>
          <a:prstGeom prst="round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Human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1280160"/>
            <a:ext cx="1828800" cy="548640"/>
          </a:xfrm>
          <a:prstGeom prst="roundRect">
            <a:avLst/>
          </a:prstGeom>
          <a:solidFill>
            <a:srgbClr val="33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PostgreSQL + pgvector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965960"/>
            <a:ext cx="1828800" cy="5486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Redis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651760"/>
            <a:ext cx="1828800" cy="548640"/>
          </a:xfrm>
          <a:prstGeom prst="roundRect">
            <a:avLst/>
          </a:prstGeom>
          <a:solidFill>
            <a:srgbClr val="92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ElasticMQ (Queues)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3337560"/>
            <a:ext cx="1828800" cy="548640"/>
          </a:xfrm>
          <a:prstGeom prst="roundRect">
            <a:avLst/>
          </a:prstGeom>
          <a:solidFill>
            <a:srgbClr val="C02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MinIO (Storage)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023360"/>
            <a:ext cx="1828800" cy="54864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OpenAI GPT-4o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754880"/>
            <a:ext cx="2743200" cy="6400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React Frontend (7 screens)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754880"/>
            <a:ext cx="2743200" cy="640080"/>
          </a:xfrm>
          <a:prstGeom prst="roundRect">
            <a:avLst/>
          </a:prstGeom>
          <a:solidFill>
            <a:srgbClr val="28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FastAPI Backend (45 APIs)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754880"/>
            <a:ext cx="2743200" cy="6400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6 AI Agents (async)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754880"/>
            <a:ext cx="2560320" cy="64008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Docker Compose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77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Poppins"/>
              </a:rPr>
              <a:t>Confidence-Based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0B981"/>
                </a:solidFill>
                <a:latin typeface="Poppins"/>
              </a:rPr>
              <a:t>&gt;=90% Auto-Process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051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85D93"/>
                </a:solidFill>
                <a:latin typeface="Poppins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669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85D93"/>
                </a:solidFill>
                <a:latin typeface="Poppins"/>
              </a:rPr>
              <a:t>End-to-End Processing: ~9 seconds  |  Extraction Accuracy: 99.2%  |  197 Automated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Backend &amp; AI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Python 3.12, FastAPI (async), SQLAlchemy 2.0, Pydantic v2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PostgreSQL 16 with pgvector extension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Redis 7 for caching, ElasticMQ for message queues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OpenAI GPT-4o (extraction) + GPT-4o-mini (classification)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pdfplumber + pytesseract for local OCR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Frontend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React 18 with TypeScript (strict mode)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Vite build tooling, Tailwind CSS v3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TanStack React Query v5, Recharts for data visualization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Integration &amp; Infrastructure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Microsoft Graph API for email (inbound + outbound)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Docker Compose (8 containers, single-command deployment)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Adapter pattern: swap local services for AWS without code changes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JWT authentication, role-based access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AI Agent Pipeline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Processing Flow (Email → Order in 9 seconds)</a:t>
            </a:r>
          </a:p>
          <a:p>
            <a:pPr>
              <a:spcBef>
                <a:spcPts val="800"/>
              </a:spcBef>
            </a:pP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1. Email Intake Agent — polls inbox via MS Graph, classifies email type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2. Document Understanding — extracts text from PDF/Excel/Word/images (OCR)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3. Order Extraction — GPT-4o extracts 49 fields with confidence scores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4. Validation Agent — checks mandatory fields, business rules, duplicates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5. Routing Decision: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Confidence &gt;= 90%: Auto-process (STP)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80-90%: Human-in-the-Loop review queue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Missing mandatory fields: Auto-email customer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Hazmat orders: Always human review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6. Order Creation — finalizes order + sends confirmation email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Proven Results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Test: Maple Leaf Foods shipment → 99.2% confidence → auto-created in 9 seconds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All 49 fields extracted correctly, confirmation email sent in thread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Web Application — Key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Dashboard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Real-time KPIs: Total Orders, STP Rate, Avg E2E Time, Accuracy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Status distribution chart, pipeline breakdown, STP trend line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Order Management (Dynamic Form)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4-step creation wizard, fields driven by admin configuration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Inline editing, status filters, confidence indicators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Operations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Review Queue: approve/reject with one click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Email Inbox: all processed emails with classification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Audit Logs: searchable, paginated, JSON diff, CSV export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Administration (5 tabs)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Field Configuration — 49 fields, toggle mandatory/conditional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Business Rules — 12 rules (date, enum, regex, required_if)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Email Templates — 4 types with variable substitution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User Management — create/edit users, assign roles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Thresholds — STP/HITL confidence boundaries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Implementation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285D93"/>
                </a:solidFill>
                <a:latin typeface="Poppins"/>
              </a:rPr>
              <a:t>14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Database
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285D93"/>
                </a:solidFill>
                <a:latin typeface="Poppins"/>
              </a:rPr>
              <a:t>45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API
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285D93"/>
                </a:solidFill>
                <a:latin typeface="Poppins"/>
              </a:rPr>
              <a:t>7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Frontend
Screens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285D93"/>
                </a:solidFill>
                <a:latin typeface="Poppins"/>
              </a:rPr>
              <a:t>6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AI
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3716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285D93"/>
                </a:solidFill>
                <a:latin typeface="Poppins"/>
              </a:rPr>
              <a:t>197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Automated
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59E0B"/>
                </a:solidFill>
                <a:latin typeface="Poppins"/>
              </a:rPr>
              <a:t>49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Configurable
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2004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59E0B"/>
                </a:solidFill>
                <a:latin typeface="Poppins"/>
              </a:rPr>
              <a:t>12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Business
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2004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59E0B"/>
                </a:solidFill>
                <a:latin typeface="Poppins"/>
              </a:rPr>
              <a:t>4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Email
Templates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2004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59E0B"/>
                </a:solidFill>
                <a:latin typeface="Poppins"/>
              </a:rPr>
              <a:t>4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User
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320040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59E0B"/>
                </a:solidFill>
                <a:latin typeface="Poppins"/>
              </a:rPr>
              <a:t>9s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Poppins"/>
              </a:rPr>
              <a:t>E2E Processing
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85D93"/>
                </a:solidFill>
                <a:latin typeface="Poppins"/>
              </a:rPr>
              <a:t>Test Breakdown: </a:t>
            </a:r>
            <a:r>
              <a:rPr sz="1200" b="0">
                <a:solidFill>
                  <a:srgbClr val="666666"/>
                </a:solidFill>
                <a:latin typeface="Poppins"/>
              </a:rPr>
              <a:t>26 Playwright E2E  |  61 Field Validation  |  48 Admin Module  |  62 API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Security, Quality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Security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JWT Bearer token authentication with role-based access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4-tier RBAC: Readonly &lt; Agent &lt; Supervisor &lt; Admin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API endpoint-level authorization, UI navigation filtered by role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Audit &amp; Compliance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Immutable audit trail — append-only order_history table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Every agent action logged with timestamp, actor, and context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Searchable audit logs with date filtering and CSV export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Testing (197 Automated Tests — All Passing)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26 Playwright E2E: login, forms, RBAC, admin, order lifecycle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61 Field Validation: every mandatory, enum, conditional, edge case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48 Admin Module: CRUD for configs, rules, templates, users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62 API Integration: auth, orders, queues, reports, conversations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Agent pipeline E2E: real email → extraction → order creation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Current Status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Deployed on-premise: server 172.16.6.199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Single command deployment: docker compose up -d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8 Docker containers, ~4GB RAM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External Dependencies (outbound only)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OpenAI API — for AI extraction and classification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Microsoft Graph API — for email inbox integration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No inbound ports required (pulls, doesn't listen)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Cloud Migration Path (When Ready)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Adapter pattern enables zero-code-change migration to AWS: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ElasticMQ → Amazon SQS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MinIO → Amazon S3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Local OCR → AWS Textract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OpenAI → AWS Bedrock (Claude)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66666"/>
                </a:solidFill>
                <a:latin typeface="Poppins"/>
              </a:rPr>
              <a:t>Local JWT → Amazon Cognito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Phase 1 — Hardening (Next 2-4 weeks)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CI/CD pipeline with GitHub Actions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Database migrations with Alembic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Rate limiting, enhanced error handling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Phase 2 — AWS Cloud Deployment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CDK infrastructure-as-code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ECS Fargate, RDS, SQS, S3, Cognito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Production-grade scaling and monitoring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Phase 3 — Advanced Features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Real-time WebSocket notifications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pgvector semantic duplicate detection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Customer profile management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85D93"/>
                </a:solidFill>
                <a:latin typeface="Poppins"/>
              </a:rPr>
              <a:t>Phase 4 — Enterprise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Multi-tenant, SSO (SAML/OIDC)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CloudWatch dashboards, X-Ray tracing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Poppins"/>
              </a:rPr>
              <a:t>Data retention policies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2560320"/>
            <a:ext cx="9875520" cy="1645920"/>
          </a:xfrm>
          <a:prstGeom prst="roundRect">
            <a:avLst/>
          </a:prstGeom>
          <a:solidFill>
            <a:srgbClr val="28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Poppins"/>
              </a:rPr>
              <a:t>Order Intelligence Agent — Built by ideyaLabs
Demo: https://172.16.6.199
GitHub: github.com/mkbharath/BisonTransport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3739b9-6038-461a-ab7c-f571eacc0fdd">
      <Terms xmlns="http://schemas.microsoft.com/office/infopath/2007/PartnerControls"/>
    </lcf76f155ced4ddcb4097134ff3c332f>
    <TaxCatchAll xmlns="45fc85a5-012c-45b2-823a-2710035224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346C7EA372A94181E34BC0480D42B1" ma:contentTypeVersion="14" ma:contentTypeDescription="Create a new document." ma:contentTypeScope="" ma:versionID="01f3e9b0ec71151d3081f231ae4719b1">
  <xsd:schema xmlns:xsd="http://www.w3.org/2001/XMLSchema" xmlns:xs="http://www.w3.org/2001/XMLSchema" xmlns:p="http://schemas.microsoft.com/office/2006/metadata/properties" xmlns:ns2="433739b9-6038-461a-ab7c-f571eacc0fdd" xmlns:ns3="45fc85a5-012c-45b2-823a-271003522474" targetNamespace="http://schemas.microsoft.com/office/2006/metadata/properties" ma:root="true" ma:fieldsID="d5b5b4d9f2987e76c3fb24a1c86654af" ns2:_="" ns3:_="">
    <xsd:import namespace="433739b9-6038-461a-ab7c-f571eacc0fdd"/>
    <xsd:import namespace="45fc85a5-012c-45b2-823a-2710035224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739b9-6038-461a-ab7c-f571eacc0f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4c8c1d-afca-41c4-8025-6e01fc6d84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c85a5-012c-45b2-823a-27100352247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96a95bc-82b6-4923-a43c-5d9f8031b579}" ma:internalName="TaxCatchAll" ma:showField="CatchAllData" ma:web="45fc85a5-012c-45b2-823a-2710035224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03EF71-DF41-4E92-8BF7-72D88361CDD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33739b9-6038-461a-ab7c-f571eacc0fdd"/>
    <ds:schemaRef ds:uri="45fc85a5-012c-45b2-823a-271003522474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BDCA1E7-1FC2-4EF5-915D-3197C7604F34}">
  <ds:schemaRefs>
    <ds:schemaRef ds:uri="433739b9-6038-461a-ab7c-f571eacc0fdd"/>
    <ds:schemaRef ds:uri="45fc85a5-012c-45b2-823a-2710035224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CFA994F-0482-4E05-851D-A5E8474282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3908</TotalTime>
  <Words>22</Words>
  <Application>Microsoft Macintosh PowerPoint</Application>
  <PresentationFormat>Widescreen</PresentationFormat>
  <Paragraphs>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Arial</vt:lpstr>
      <vt:lpstr>Calibri</vt:lpstr>
      <vt:lpstr>Poppins</vt:lpstr>
      <vt:lpstr>Custom Design</vt:lpstr>
      <vt:lpstr>1_Custom Design</vt:lpstr>
      <vt:lpstr>2_Custom Design</vt:lpstr>
      <vt:lpstr>4_Custom Design</vt:lpstr>
      <vt:lpstr>3_Custom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Gayathri K</dc:creator>
  <cp:lastModifiedBy>Bharath M</cp:lastModifiedBy>
  <cp:revision>15</cp:revision>
  <dcterms:created xsi:type="dcterms:W3CDTF">2024-01-30T10:01:44Z</dcterms:created>
  <dcterms:modified xsi:type="dcterms:W3CDTF">2026-07-02T06:47:02Z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0x01010021346C7EA372A94181E34BC0480D42B1</vt:lpwstr>
  </property>
  <property fmtid="{D5CDD505-2E9C-101B-9397-08002B2CF9AE}" pid="3" name="MediaServiceImageTags">
    <vt:lpwstr/>
  </property>
</Properties>
</file>